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a:t>
            </a:r>
            <a:r>
              <a:rPr lang="en-US" sz="4400" b="0" u="none" strike="noStrike">
                <a:solidFill>
                  <a:srgbClr val="000000"/>
                </a:solidFill>
                <a:effectLst/>
                <a:uFillTx/>
                <a:latin typeface="Arial"/>
              </a:rPr>
              <a:t>ic</a:t>
            </a:r>
            <a:r>
              <a:rPr lang="en-US" sz="4400" b="0" u="none" strike="noStrike">
                <a:solidFill>
                  <a:srgbClr val="000000"/>
                </a:solidFill>
                <a:effectLst/>
                <a:uFillTx/>
                <a:latin typeface="Arial"/>
              </a:rPr>
              <a:t>k </a:t>
            </a:r>
            <a:r>
              <a:rPr lang="en-US" sz="4400" b="0" u="none" strike="noStrike">
                <a:solidFill>
                  <a:srgbClr val="000000"/>
                </a:solidFill>
                <a:effectLst/>
                <a:uFillTx/>
                <a:latin typeface="Arial"/>
              </a:rPr>
              <a:t>to </a:t>
            </a:r>
            <a:r>
              <a:rPr lang="en-US" sz="4400" b="0" u="none" strike="noStrike">
                <a:solidFill>
                  <a:srgbClr val="000000"/>
                </a:solidFill>
                <a:effectLst/>
                <a:uFillTx/>
                <a:latin typeface="Arial"/>
              </a:rPr>
              <a:t>m</a:t>
            </a:r>
            <a:r>
              <a:rPr lang="en-US" sz="4400" b="0" u="none" strike="noStrike">
                <a:solidFill>
                  <a:srgbClr val="000000"/>
                </a:solidFill>
                <a:effectLst/>
                <a:uFillTx/>
                <a:latin typeface="Arial"/>
              </a:rPr>
              <a:t>ov</a:t>
            </a:r>
            <a:r>
              <a:rPr lang="en-US" sz="4400" b="0" u="none" strike="noStrike">
                <a:solidFill>
                  <a:srgbClr val="000000"/>
                </a:solidFill>
                <a:effectLst/>
                <a:uFillTx/>
                <a:latin typeface="Arial"/>
              </a:rPr>
              <a:t>e </a:t>
            </a:r>
            <a:r>
              <a:rPr lang="en-US" sz="4400" b="0" u="none" strike="noStrike">
                <a:solidFill>
                  <a:srgbClr val="000000"/>
                </a:solidFill>
                <a:effectLst/>
                <a:uFillTx/>
                <a:latin typeface="Arial"/>
              </a:rPr>
              <a:t>th</a:t>
            </a:r>
            <a:r>
              <a:rPr lang="en-US" sz="4400" b="0" u="none" strike="noStrike">
                <a:solidFill>
                  <a:srgbClr val="000000"/>
                </a:solidFill>
                <a:effectLst/>
                <a:uFillTx/>
                <a:latin typeface="Arial"/>
              </a:rPr>
              <a:t>e </a:t>
            </a:r>
            <a:r>
              <a:rPr lang="en-US" sz="4400" b="0" u="none" strike="noStrike">
                <a:solidFill>
                  <a:srgbClr val="000000"/>
                </a:solidFill>
                <a:effectLst/>
                <a:uFillTx/>
                <a:latin typeface="Arial"/>
              </a:rPr>
              <a:t>sli</a:t>
            </a:r>
            <a:r>
              <a:rPr lang="en-US" sz="4400" b="0" u="none" strike="noStrike">
                <a:solidFill>
                  <a:srgbClr val="000000"/>
                </a:solidFill>
                <a:effectLst/>
                <a:uFillTx/>
                <a:latin typeface="Arial"/>
              </a:rPr>
              <a:t>de</a:t>
            </a:r>
            <a:endParaRPr lang="en-US" sz="4400" b="0" u="none" strike="noStrike">
              <a:solidFill>
                <a:srgbClr val="000000"/>
              </a:solidFill>
              <a:effectLst/>
              <a:uFillTx/>
              <a:latin typeface="Arial"/>
            </a:endParaRPr>
          </a:p>
        </p:txBody>
      </p:sp>
      <p:sp>
        <p:nvSpPr>
          <p:cNvPr id="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0"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BFA1EEF-707D-4458-A90F-E8CD149F8C4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ldImg"/>
          </p:nvPr>
        </p:nvSpPr>
        <p:spPr>
          <a:xfrm>
            <a:off x="685800" y="1143000"/>
            <a:ext cx="5484600" cy="3084480"/>
          </a:xfrm>
          <a:prstGeom prst="rect">
            <a:avLst/>
          </a:prstGeom>
          <a:ln w="0">
            <a:noFill/>
          </a:ln>
        </p:spPr>
      </p:sp>
      <p:sp>
        <p:nvSpPr>
          <p:cNvPr id="9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lnSpc>
                <a:spcPct val="100000"/>
              </a:lnSpc>
              <a:buNone/>
              <a:tabLst>
                <a:tab algn="l" pos="0"/>
              </a:tabLst>
            </a:pPr>
            <a:r>
              <a:rPr lang="en-US" sz="2000" b="0" u="none" strike="noStrike">
                <a:solidFill>
                  <a:srgbClr val="000000"/>
                </a:solidFill>
                <a:effectLst/>
                <a:uFillTx/>
                <a:latin typeface="Arial"/>
              </a:rPr>
              <a:t>this is a crash course designed to teach the basic workflow and essential terminology to get started DJing at home and at an open decks, this does not cover advanced theory or best practices, this course is less about the why and the how and more about giving a repeatable and digestible process with some key points to look into that will allow you to work towards those things on your own, this is the foundation that you will build your actual skills on</a:t>
            </a:r>
            <a:endParaRPr lang="en-US" sz="2000" b="0" u="none" strike="noStrike">
              <a:solidFill>
                <a:srgbClr val="000000"/>
              </a:solidFill>
              <a:effectLst/>
              <a:uFillTx/>
              <a:latin typeface="Arial"/>
            </a:endParaRPr>
          </a:p>
        </p:txBody>
      </p:sp>
      <p:sp>
        <p:nvSpPr>
          <p:cNvPr id="91" name="PlaceHolder 3"/>
          <p:cNvSpPr>
            <a:spLocks noGrp="1"/>
          </p:cNvSpPr>
          <p:nvPr>
            <p:ph type="sldNum" idx="4"/>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72532A01-8B15-4716-A3A1-2994FDAF528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685800" y="1143000"/>
            <a:ext cx="5484600" cy="3084480"/>
          </a:xfrm>
          <a:prstGeom prst="rect">
            <a:avLst/>
          </a:prstGeom>
          <a:ln w="0">
            <a:noFill/>
          </a:ln>
        </p:spPr>
      </p:sp>
      <p:sp>
        <p:nvSpPr>
          <p:cNvPr id="9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4" name="PlaceHolder 3"/>
          <p:cNvSpPr>
            <a:spLocks noGrp="1"/>
          </p:cNvSpPr>
          <p:nvPr>
            <p:ph type="sldNum" idx="5"/>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7146F5E4-6C09-4D7E-9574-9215EBF3241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sldImg"/>
          </p:nvPr>
        </p:nvSpPr>
        <p:spPr>
          <a:xfrm>
            <a:off x="685800" y="1143000"/>
            <a:ext cx="5484600" cy="3084480"/>
          </a:xfrm>
          <a:prstGeom prst="rect">
            <a:avLst/>
          </a:prstGeom>
          <a:ln w="0">
            <a:noFill/>
          </a:ln>
        </p:spPr>
      </p:sp>
      <p:sp>
        <p:nvSpPr>
          <p:cNvPr id="9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7" name="PlaceHolder 3"/>
          <p:cNvSpPr>
            <a:spLocks noGrp="1"/>
          </p:cNvSpPr>
          <p:nvPr>
            <p:ph type="sldNum" idx="6"/>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335962CB-8EF9-4EFF-931B-3860912868D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sldImg"/>
          </p:nvPr>
        </p:nvSpPr>
        <p:spPr>
          <a:xfrm>
            <a:off x="685800" y="1143000"/>
            <a:ext cx="5484600" cy="3084480"/>
          </a:xfrm>
          <a:prstGeom prst="rect">
            <a:avLst/>
          </a:prstGeom>
          <a:ln w="0">
            <a:noFill/>
          </a:ln>
        </p:spPr>
      </p:sp>
      <p:sp>
        <p:nvSpPr>
          <p:cNvPr id="9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0" name="PlaceHolder 3"/>
          <p:cNvSpPr>
            <a:spLocks noGrp="1"/>
          </p:cNvSpPr>
          <p:nvPr>
            <p:ph type="sldNum" idx="7"/>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4A058613-91AB-4445-91E5-F2D05257EBA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sldImg"/>
          </p:nvPr>
        </p:nvSpPr>
        <p:spPr>
          <a:xfrm>
            <a:off x="685800" y="1143000"/>
            <a:ext cx="5484600" cy="3084480"/>
          </a:xfrm>
          <a:prstGeom prst="rect">
            <a:avLst/>
          </a:prstGeom>
          <a:ln w="0">
            <a:noFill/>
          </a:ln>
        </p:spPr>
      </p:sp>
      <p:sp>
        <p:nvSpPr>
          <p:cNvPr id="10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3" name="PlaceHolder 3"/>
          <p:cNvSpPr>
            <a:spLocks noGrp="1"/>
          </p:cNvSpPr>
          <p:nvPr>
            <p:ph type="sldNum" idx="8"/>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8B3A510A-5BE7-4AA8-9F48-29A4B37A603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685800" y="1143000"/>
            <a:ext cx="5484600" cy="3084480"/>
          </a:xfrm>
          <a:prstGeom prst="rect">
            <a:avLst/>
          </a:prstGeom>
          <a:ln w="0">
            <a:noFill/>
          </a:ln>
        </p:spPr>
      </p:sp>
      <p:sp>
        <p:nvSpPr>
          <p:cNvPr id="10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6" name="PlaceHolder 3"/>
          <p:cNvSpPr>
            <a:spLocks noGrp="1"/>
          </p:cNvSpPr>
          <p:nvPr>
            <p:ph type="sldNum" idx="9"/>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09B27BE0-3BA5-4B7C-B0B5-7B841A30FAF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685800" y="1143000"/>
            <a:ext cx="5484600" cy="3084480"/>
          </a:xfrm>
          <a:prstGeom prst="rect">
            <a:avLst/>
          </a:prstGeom>
          <a:ln w="0">
            <a:noFill/>
          </a:ln>
        </p:spPr>
      </p:sp>
      <p:sp>
        <p:nvSpPr>
          <p:cNvPr id="10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9" name="PlaceHolder 3"/>
          <p:cNvSpPr>
            <a:spLocks noGrp="1"/>
          </p:cNvSpPr>
          <p:nvPr>
            <p:ph type="sldNum" idx="10"/>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03BD0A2F-8E13-401A-A6FB-F0F4D8F8D2D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685800" y="1143000"/>
            <a:ext cx="5484600" cy="3084480"/>
          </a:xfrm>
          <a:prstGeom prst="rect">
            <a:avLst/>
          </a:prstGeom>
          <a:ln w="0">
            <a:noFill/>
          </a:ln>
        </p:spPr>
      </p:sp>
      <p:sp>
        <p:nvSpPr>
          <p:cNvPr id="11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2" name="PlaceHolder 3"/>
          <p:cNvSpPr>
            <a:spLocks noGrp="1"/>
          </p:cNvSpPr>
          <p:nvPr>
            <p:ph type="sldNum" idx="11"/>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737323F6-0972-4734-BDAA-001B4C541F9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685800" y="1143000"/>
            <a:ext cx="5484600" cy="3084480"/>
          </a:xfrm>
          <a:prstGeom prst="rect">
            <a:avLst/>
          </a:prstGeom>
          <a:ln w="0">
            <a:noFill/>
          </a:ln>
        </p:spPr>
      </p:sp>
      <p:sp>
        <p:nvSpPr>
          <p:cNvPr id="11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5" name="PlaceHolder 3"/>
          <p:cNvSpPr>
            <a:spLocks noGrp="1"/>
          </p:cNvSpPr>
          <p:nvPr>
            <p:ph type="sldNum" idx="12"/>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4BAD3E24-56B1-4F29-90D5-D15B489D00A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685800" y="1143000"/>
            <a:ext cx="5484600" cy="3084480"/>
          </a:xfrm>
          <a:prstGeom prst="rect">
            <a:avLst/>
          </a:prstGeom>
          <a:ln w="0">
            <a:noFill/>
          </a:ln>
        </p:spPr>
      </p:sp>
      <p:sp>
        <p:nvSpPr>
          <p:cNvPr id="11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8" name="PlaceHolder 3"/>
          <p:cNvSpPr>
            <a:spLocks noGrp="1"/>
          </p:cNvSpPr>
          <p:nvPr>
            <p:ph type="sldNum" idx="13"/>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1669BDA4-C931-47C0-B4F8-C8FB99CBFF3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685800" y="1143000"/>
            <a:ext cx="5484600" cy="3084480"/>
          </a:xfrm>
          <a:prstGeom prst="rect">
            <a:avLst/>
          </a:prstGeom>
          <a:ln w="0">
            <a:noFill/>
          </a:ln>
        </p:spPr>
      </p:sp>
      <p:sp>
        <p:nvSpPr>
          <p:cNvPr id="12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21" name="PlaceHolder 3"/>
          <p:cNvSpPr>
            <a:spLocks noGrp="1"/>
          </p:cNvSpPr>
          <p:nvPr>
            <p:ph type="sldNum" idx="14"/>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13E80EA6-01ED-4FE2-91C1-55CA89674D0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685800" y="1143000"/>
            <a:ext cx="5484600" cy="3084480"/>
          </a:xfrm>
          <a:prstGeom prst="rect">
            <a:avLst/>
          </a:prstGeom>
          <a:ln w="0">
            <a:noFill/>
          </a:ln>
        </p:spPr>
      </p:sp>
      <p:sp>
        <p:nvSpPr>
          <p:cNvPr id="12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lnSpc>
                <a:spcPct val="100000"/>
              </a:lnSpc>
              <a:buNone/>
              <a:tabLst>
                <a:tab algn="l" pos="0"/>
              </a:tabLst>
            </a:pPr>
            <a:r>
              <a:rPr lang="en-US" sz="2000" b="0" u="none" strike="noStrike">
                <a:solidFill>
                  <a:srgbClr val="000000"/>
                </a:solidFill>
                <a:effectLst/>
                <a:uFillTx/>
                <a:latin typeface="Arial"/>
              </a:rPr>
              <a:t>failing to eject the flash drive before removing it from the computer will result in it becoming corrupted and needing to be reformatted to load into a player again, that means you will have to delete everything on the drive and re-export your music again before you can use it with a player</a:t>
            </a:r>
            <a:endParaRPr lang="en-US" sz="2000" b="0" u="none" strike="noStrike">
              <a:solidFill>
                <a:srgbClr val="000000"/>
              </a:solidFill>
              <a:effectLst/>
              <a:uFillTx/>
              <a:latin typeface="Arial"/>
            </a:endParaRPr>
          </a:p>
        </p:txBody>
      </p:sp>
      <p:sp>
        <p:nvSpPr>
          <p:cNvPr id="124" name="PlaceHolder 3"/>
          <p:cNvSpPr>
            <a:spLocks noGrp="1"/>
          </p:cNvSpPr>
          <p:nvPr>
            <p:ph type="sldNum" idx="15"/>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45D82921-0C2F-47A7-AEC0-C37F9912071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685800" y="1143000"/>
            <a:ext cx="5484600" cy="3084480"/>
          </a:xfrm>
          <a:prstGeom prst="rect">
            <a:avLst/>
          </a:prstGeom>
          <a:ln w="0">
            <a:noFill/>
          </a:ln>
        </p:spPr>
      </p:sp>
      <p:sp>
        <p:nvSpPr>
          <p:cNvPr id="12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lnSpc>
                <a:spcPct val="100000"/>
              </a:lnSpc>
              <a:buNone/>
              <a:tabLst>
                <a:tab algn="l" pos="0"/>
              </a:tabLst>
            </a:pPr>
            <a:r>
              <a:rPr lang="en-US" sz="2000" b="0" u="none" strike="noStrike">
                <a:solidFill>
                  <a:srgbClr val="000000"/>
                </a:solidFill>
                <a:effectLst/>
                <a:uFillTx/>
                <a:latin typeface="Arial"/>
              </a:rPr>
              <a:t>failing to eject the flash drive before removing it from the computer will result in it becoming corrupted and needing to be reformatted to load into a player again, that means you will have to delete everything on the drive and re-export your music again before you can use it with a player</a:t>
            </a:r>
            <a:endParaRPr lang="en-US" sz="2000" b="0" u="none" strike="noStrike">
              <a:solidFill>
                <a:srgbClr val="000000"/>
              </a:solidFill>
              <a:effectLst/>
              <a:uFillTx/>
              <a:latin typeface="Arial"/>
            </a:endParaRPr>
          </a:p>
        </p:txBody>
      </p:sp>
      <p:sp>
        <p:nvSpPr>
          <p:cNvPr id="127" name="PlaceHolder 3"/>
          <p:cNvSpPr>
            <a:spLocks noGrp="1"/>
          </p:cNvSpPr>
          <p:nvPr>
            <p:ph type="sldNum" idx="16"/>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74BFB600-D37B-4313-863B-145A4FE1E59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685800" y="1143000"/>
            <a:ext cx="5484600" cy="3084480"/>
          </a:xfrm>
          <a:prstGeom prst="rect">
            <a:avLst/>
          </a:prstGeom>
          <a:ln w="0">
            <a:noFill/>
          </a:ln>
        </p:spPr>
      </p:sp>
      <p:sp>
        <p:nvSpPr>
          <p:cNvPr id="12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30" name="PlaceHolder 3"/>
          <p:cNvSpPr>
            <a:spLocks noGrp="1"/>
          </p:cNvSpPr>
          <p:nvPr>
            <p:ph type="sldNum" idx="17"/>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A9C71E51-B95B-44EF-B31E-B8FF99DD3E1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685800" y="1143000"/>
            <a:ext cx="5484600" cy="3084480"/>
          </a:xfrm>
          <a:prstGeom prst="rect">
            <a:avLst/>
          </a:prstGeom>
          <a:ln w="0">
            <a:noFill/>
          </a:ln>
        </p:spPr>
      </p:sp>
      <p:sp>
        <p:nvSpPr>
          <p:cNvPr id="13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33" name="PlaceHolder 3"/>
          <p:cNvSpPr>
            <a:spLocks noGrp="1"/>
          </p:cNvSpPr>
          <p:nvPr>
            <p:ph type="sldNum" idx="18"/>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2F403188-759D-4CB8-B8A5-4F5D20F3955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685800" y="1143000"/>
            <a:ext cx="5484600" cy="3084480"/>
          </a:xfrm>
          <a:prstGeom prst="rect">
            <a:avLst/>
          </a:prstGeom>
          <a:ln w="0">
            <a:noFill/>
          </a:ln>
        </p:spPr>
      </p:sp>
      <p:sp>
        <p:nvSpPr>
          <p:cNvPr id="13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36" name="PlaceHolder 3"/>
          <p:cNvSpPr>
            <a:spLocks noGrp="1"/>
          </p:cNvSpPr>
          <p:nvPr>
            <p:ph type="sldNum" idx="19"/>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61845376-2539-41F2-9346-6C98B3F659B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685800" y="1143000"/>
            <a:ext cx="5484600" cy="3084480"/>
          </a:xfrm>
          <a:prstGeom prst="rect">
            <a:avLst/>
          </a:prstGeom>
          <a:ln w="0">
            <a:noFill/>
          </a:ln>
        </p:spPr>
      </p:sp>
      <p:sp>
        <p:nvSpPr>
          <p:cNvPr id="13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39" name="PlaceHolder 3"/>
          <p:cNvSpPr>
            <a:spLocks noGrp="1"/>
          </p:cNvSpPr>
          <p:nvPr>
            <p:ph type="sldNum" idx="20"/>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40D0967E-0AF1-498D-81BB-C8C9763E4F4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685800" y="1143000"/>
            <a:ext cx="5484600" cy="3084480"/>
          </a:xfrm>
          <a:prstGeom prst="rect">
            <a:avLst/>
          </a:prstGeom>
          <a:ln w="0">
            <a:noFill/>
          </a:ln>
        </p:spPr>
      </p:sp>
      <p:sp>
        <p:nvSpPr>
          <p:cNvPr id="14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42" name="PlaceHolder 3"/>
          <p:cNvSpPr>
            <a:spLocks noGrp="1"/>
          </p:cNvSpPr>
          <p:nvPr>
            <p:ph type="sldNum" idx="21"/>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85658A76-E337-4D32-95E1-AF7777AB442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685800" y="1143000"/>
            <a:ext cx="5484600" cy="3084480"/>
          </a:xfrm>
          <a:prstGeom prst="rect">
            <a:avLst/>
          </a:prstGeom>
          <a:ln w="0">
            <a:noFill/>
          </a:ln>
        </p:spPr>
      </p:sp>
      <p:sp>
        <p:nvSpPr>
          <p:cNvPr id="14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45" name="PlaceHolder 3"/>
          <p:cNvSpPr>
            <a:spLocks noGrp="1"/>
          </p:cNvSpPr>
          <p:nvPr>
            <p:ph type="sldNum" idx="22"/>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13DE16C9-0BDD-4F08-BB2B-C86BAD5511B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685800" y="1143000"/>
            <a:ext cx="5484600" cy="3084480"/>
          </a:xfrm>
          <a:prstGeom prst="rect">
            <a:avLst/>
          </a:prstGeom>
          <a:ln w="0">
            <a:noFill/>
          </a:ln>
        </p:spPr>
      </p:sp>
      <p:sp>
        <p:nvSpPr>
          <p:cNvPr id="14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48" name="PlaceHolder 3"/>
          <p:cNvSpPr>
            <a:spLocks noGrp="1"/>
          </p:cNvSpPr>
          <p:nvPr>
            <p:ph type="sldNum" idx="23"/>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8A388EF1-A0BA-4539-83A5-A31BD425149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685800" y="1143000"/>
            <a:ext cx="5484600" cy="3084480"/>
          </a:xfrm>
          <a:prstGeom prst="rect">
            <a:avLst/>
          </a:prstGeom>
          <a:ln w="0">
            <a:noFill/>
          </a:ln>
        </p:spPr>
      </p:sp>
      <p:sp>
        <p:nvSpPr>
          <p:cNvPr id="15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51" name="PlaceHolder 3"/>
          <p:cNvSpPr>
            <a:spLocks noGrp="1"/>
          </p:cNvSpPr>
          <p:nvPr>
            <p:ph type="sldNum" idx="24"/>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0EE7E270-935E-4B82-8332-27EBA27F53C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888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2.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video" Target="file:///C:/Users/User/Documents/0000000/My Classes/DJ Foundations/source material/How To Setup Pioneer DJ CDJs DJM Mixer Easy Step-By-Step Guide_compatible.mp4" TargetMode="External"/><Relationship Id="rId2" Type="http://schemas.microsoft.com/office/2007/relationships/media" Target="file:///C:/Users/User/Documents/0000000/My Classes/DJ Foundations/source material/How To Setup Pioneer DJ CDJs DJM Mixer Easy Step-By-Step Guide_compatible.mp4" TargetMode="External"/><Relationship Id="rId3" Type="http://schemas.openxmlformats.org/officeDocument/2006/relationships/image" Target="../media/image20.png"/><Relationship Id="rId4" Type="http://schemas.openxmlformats.org/officeDocument/2006/relationships/slideLayout" Target="../slideLayouts/slideLayout2.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video" Target="file:///C:/Users/User/Documents/0000000/My Classes/DJ Foundations/source material/DJ EZ Tekkers - Boiler Room Moments_compatible.mp4" TargetMode="External"/><Relationship Id="rId2" Type="http://schemas.microsoft.com/office/2007/relationships/media" Target="file:///C:/Users/User/Documents/0000000/My Classes/DJ Foundations/source material/DJ EZ Tekkers - Boiler Room Moments_compatible.mp4" TargetMode="External"/><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2.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14"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DJ Foundations</a:t>
            </a:r>
            <a:endParaRPr lang="en-US" sz="3600" b="0" u="none" strike="noStrike">
              <a:solidFill>
                <a:srgbClr val="ffffff"/>
              </a:solidFill>
              <a:effectLst/>
              <a:uFillTx/>
              <a:latin typeface="Arial"/>
            </a:endParaRPr>
          </a:p>
        </p:txBody>
      </p:sp>
      <p:sp>
        <p:nvSpPr>
          <p:cNvPr id="15" name="Text 1"/>
          <p:cNvSpPr/>
          <p:nvPr/>
        </p:nvSpPr>
        <p:spPr>
          <a:xfrm>
            <a:off x="457200" y="2516400"/>
            <a:ext cx="8685000" cy="9126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Song Prep &amp; Basic Mixing</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What DJs actually do</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How to get started</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One clean transition</a:t>
            </a:r>
            <a:endParaRPr lang="en-US" sz="2000" b="0" u="none" strike="noStrike">
              <a:solidFill>
                <a:srgbClr val="ffffff"/>
              </a:solidFill>
              <a:effectLst/>
              <a:uFillTx/>
              <a:latin typeface="Arial"/>
            </a:endParaRPr>
          </a:p>
        </p:txBody>
      </p:sp>
      <p:pic>
        <p:nvPicPr>
          <p:cNvPr id="16" name="Image 0" descr="preencoded.png"/>
          <p:cNvPicPr/>
          <p:nvPr/>
        </p:nvPicPr>
        <p:blipFill>
          <a:blip r:embed="rId1"/>
          <a:stretch/>
        </p:blipFill>
        <p:spPr>
          <a:xfrm>
            <a:off x="4205160" y="1847880"/>
            <a:ext cx="4937040" cy="32940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17" name="Text 0"/>
          <p:cNvSpPr/>
          <p:nvPr/>
        </p:nvSpPr>
        <p:spPr>
          <a:xfrm>
            <a:off x="457200" y="27432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Who Am I?</a:t>
            </a:r>
            <a:endParaRPr lang="en-US" sz="3600" b="0" u="none" strike="noStrike">
              <a:solidFill>
                <a:srgbClr val="ffffff"/>
              </a:solidFill>
              <a:effectLst/>
              <a:uFillTx/>
              <a:latin typeface="Arial"/>
            </a:endParaRPr>
          </a:p>
        </p:txBody>
      </p:sp>
      <p:sp>
        <p:nvSpPr>
          <p:cNvPr id="18" name="Text 1"/>
          <p:cNvSpPr/>
          <p:nvPr/>
        </p:nvSpPr>
        <p:spPr>
          <a:xfrm>
            <a:off x="229680" y="1600200"/>
            <a:ext cx="4799520" cy="205632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Multidisciplinary artist of 15 years </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DJ/VJ/Producer</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St. Cloud native</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pretty chill guy</a:t>
            </a:r>
            <a:endParaRPr lang="en-US" sz="2000" b="0" u="none" strike="noStrike">
              <a:solidFill>
                <a:srgbClr val="ffffff"/>
              </a:solidFill>
              <a:effectLst/>
              <a:uFillTx/>
              <a:latin typeface="Arial"/>
            </a:endParaRPr>
          </a:p>
        </p:txBody>
      </p:sp>
      <p:pic>
        <p:nvPicPr>
          <p:cNvPr id="19" name="Image 0" descr="preencoded.png"/>
          <p:cNvPicPr/>
          <p:nvPr/>
        </p:nvPicPr>
        <p:blipFill>
          <a:blip r:embed="rId1"/>
          <a:stretch/>
        </p:blipFill>
        <p:spPr>
          <a:xfrm>
            <a:off x="5029200" y="1985040"/>
            <a:ext cx="4113000" cy="3157200"/>
          </a:xfrm>
          <a:prstGeom prst="rect">
            <a:avLst/>
          </a:prstGeom>
          <a:noFill/>
          <a:ln w="0">
            <a:noFill/>
          </a:ln>
        </p:spPr>
      </p:pic>
      <p:pic>
        <p:nvPicPr>
          <p:cNvPr id="20" name="Image 1" descr="preencoded.png"/>
          <p:cNvPicPr/>
          <p:nvPr/>
        </p:nvPicPr>
        <p:blipFill>
          <a:blip r:embed="rId2"/>
          <a:stretch/>
        </p:blipFill>
        <p:spPr>
          <a:xfrm>
            <a:off x="2514600" y="2720880"/>
            <a:ext cx="2055960" cy="2254320"/>
          </a:xfrm>
          <a:prstGeom prst="rect">
            <a:avLst/>
          </a:prstGeom>
          <a:noFill/>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fill="hold" nodeType="clickEffect" presetSubtype="4">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repl">
                                        <p:cTn id="7" dur="750" fill="hold"/>
                                        <p:tgtEl>
                                          <p:spTgt spid="20"/>
                                        </p:tgtEl>
                                        <p:attrNameLst>
                                          <p:attrName>ppt_x</p:attrName>
                                        </p:attrNameLst>
                                      </p:cBhvr>
                                      <p:tavLst>
                                        <p:tav>
                                          <p:val>
                                            <p:strVal val="#ppt_x"/>
                                          </p:val>
                                        </p:tav>
                                        <p:tav tm="100000">
                                          <p:val>
                                            <p:strVal val="#ppt_x"/>
                                          </p:val>
                                        </p:tav>
                                      </p:tavLst>
                                    </p:anim>
                                    <p:anim calcmode="lin" valueType="num">
                                      <p:cBhvr additive="repl">
                                        <p:cTn id="8" dur="750" fill="hold"/>
                                        <p:tgtEl>
                                          <p:spTgt spid="20"/>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21"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What You’ll Be Able to Do</a:t>
            </a:r>
            <a:endParaRPr lang="en-US" sz="3600" b="0" u="none" strike="noStrike">
              <a:solidFill>
                <a:srgbClr val="ffffff"/>
              </a:solidFill>
              <a:effectLst/>
              <a:uFillTx/>
              <a:latin typeface="Arial"/>
            </a:endParaRPr>
          </a:p>
        </p:txBody>
      </p:sp>
      <p:sp>
        <p:nvSpPr>
          <p:cNvPr id="22" name="Text 1"/>
          <p:cNvSpPr/>
          <p:nvPr/>
        </p:nvSpPr>
        <p:spPr>
          <a:xfrm>
            <a:off x="459000" y="2286000"/>
            <a:ext cx="8685000" cy="11412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Prepare tracks in Rekordbox</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Load music on club gear</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Match BPM</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Perform a basic mix</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Practice at home confidently</a:t>
            </a:r>
            <a:endParaRPr lang="en-US" sz="2000" b="0" u="none" strike="noStrike">
              <a:solidFill>
                <a:srgbClr val="ffffff"/>
              </a:solidFill>
              <a:effectLst/>
              <a:uFillTx/>
              <a:latin typeface="Arial"/>
            </a:endParaRPr>
          </a:p>
        </p:txBody>
      </p:sp>
      <p:pic>
        <p:nvPicPr>
          <p:cNvPr id="23" name="Image 0" descr="preencoded.png"/>
          <p:cNvPicPr/>
          <p:nvPr/>
        </p:nvPicPr>
        <p:blipFill>
          <a:blip r:embed="rId1"/>
          <a:stretch/>
        </p:blipFill>
        <p:spPr>
          <a:xfrm>
            <a:off x="4800600" y="2214000"/>
            <a:ext cx="4341600" cy="29275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24"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What You Need</a:t>
            </a:r>
            <a:endParaRPr lang="en-US" sz="3600" b="0" u="none" strike="noStrike">
              <a:solidFill>
                <a:srgbClr val="ffffff"/>
              </a:solidFill>
              <a:effectLst/>
              <a:uFillTx/>
              <a:latin typeface="Arial"/>
            </a:endParaRPr>
          </a:p>
        </p:txBody>
      </p:sp>
      <p:sp>
        <p:nvSpPr>
          <p:cNvPr id="25" name="Text 1"/>
          <p:cNvSpPr/>
          <p:nvPr/>
        </p:nvSpPr>
        <p:spPr>
          <a:xfrm>
            <a:off x="457200" y="2286000"/>
            <a:ext cx="8685000" cy="13698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Computer</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Headphones/Speakers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Music files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Rekordbox installed</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USB drive</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Optional: controller</a:t>
            </a:r>
            <a:endParaRPr lang="en-US" sz="2000" b="0" u="none" strike="noStrike">
              <a:solidFill>
                <a:srgbClr val="ffffff"/>
              </a:solidFill>
              <a:effectLst/>
              <a:uFillTx/>
              <a:latin typeface="Arial"/>
            </a:endParaRPr>
          </a:p>
        </p:txBody>
      </p:sp>
      <p:pic>
        <p:nvPicPr>
          <p:cNvPr id="26" name="Image 0" descr="preencoded.png"/>
          <p:cNvPicPr/>
          <p:nvPr/>
        </p:nvPicPr>
        <p:blipFill>
          <a:blip r:embed="rId1"/>
          <a:stretch/>
        </p:blipFill>
        <p:spPr>
          <a:xfrm>
            <a:off x="4343400" y="1819440"/>
            <a:ext cx="4798800" cy="33224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27"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DJ Workflow</a:t>
            </a:r>
            <a:endParaRPr lang="en-US" sz="3600" b="0" u="none" strike="noStrike">
              <a:solidFill>
                <a:srgbClr val="ffffff"/>
              </a:solidFill>
              <a:effectLst/>
              <a:uFillTx/>
              <a:latin typeface="Arial"/>
            </a:endParaRPr>
          </a:p>
        </p:txBody>
      </p:sp>
      <p:sp>
        <p:nvSpPr>
          <p:cNvPr id="28" name="Text 1"/>
          <p:cNvSpPr/>
          <p:nvPr/>
        </p:nvSpPr>
        <p:spPr>
          <a:xfrm>
            <a:off x="916200" y="2514600"/>
            <a:ext cx="8685000" cy="11412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Get music</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Prep tracks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Make playlist(s)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Export</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Mix</a:t>
            </a:r>
            <a:endParaRPr lang="en-US" sz="2000" b="0" u="none" strike="noStrike">
              <a:solidFill>
                <a:srgbClr val="ffffff"/>
              </a:solidFill>
              <a:effectLst/>
              <a:uFillTx/>
              <a:latin typeface="Arial"/>
            </a:endParaRPr>
          </a:p>
        </p:txBody>
      </p:sp>
      <p:pic>
        <p:nvPicPr>
          <p:cNvPr id="29" name="Image 0" descr="preencoded.png"/>
          <p:cNvPicPr/>
          <p:nvPr/>
        </p:nvPicPr>
        <p:blipFill>
          <a:blip r:embed="rId1"/>
          <a:stretch/>
        </p:blipFill>
        <p:spPr>
          <a:xfrm>
            <a:off x="4876920" y="1824120"/>
            <a:ext cx="4265280" cy="33177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30"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Finding Music</a:t>
            </a:r>
            <a:endParaRPr lang="en-US" sz="3600" b="0" u="none" strike="noStrike">
              <a:solidFill>
                <a:srgbClr val="ffffff"/>
              </a:solidFill>
              <a:effectLst/>
              <a:uFillTx/>
              <a:latin typeface="Arial"/>
            </a:endParaRPr>
          </a:p>
        </p:txBody>
      </p:sp>
      <p:sp>
        <p:nvSpPr>
          <p:cNvPr id="31" name="Text 1"/>
          <p:cNvSpPr/>
          <p:nvPr/>
        </p:nvSpPr>
        <p:spPr>
          <a:xfrm>
            <a:off x="457200" y="2287800"/>
            <a:ext cx="8685000" cy="13698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Soundcloud</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Bandcamp</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Beatport</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Itunes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Record labels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Music Collectives</a:t>
            </a:r>
            <a:endParaRPr lang="en-US" sz="2000" b="0" u="none" strike="noStrike">
              <a:solidFill>
                <a:srgbClr val="ffffff"/>
              </a:solidFill>
              <a:effectLst/>
              <a:uFillTx/>
              <a:latin typeface="Arial"/>
            </a:endParaRPr>
          </a:p>
        </p:txBody>
      </p:sp>
      <p:pic>
        <p:nvPicPr>
          <p:cNvPr id="32" name="Image 0" descr="preencoded.png"/>
          <p:cNvPicPr/>
          <p:nvPr/>
        </p:nvPicPr>
        <p:blipFill>
          <a:blip r:embed="rId1"/>
          <a:stretch/>
        </p:blipFill>
        <p:spPr>
          <a:xfrm>
            <a:off x="3557520" y="2571840"/>
            <a:ext cx="5584680" cy="25700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33"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Rekordbox</a:t>
            </a:r>
            <a:endParaRPr lang="en-US" sz="3600" b="0" u="none" strike="noStrike">
              <a:solidFill>
                <a:srgbClr val="ffffff"/>
              </a:solidFill>
              <a:effectLst/>
              <a:uFillTx/>
              <a:latin typeface="Arial"/>
            </a:endParaRPr>
          </a:p>
        </p:txBody>
      </p:sp>
      <p:sp>
        <p:nvSpPr>
          <p:cNvPr id="34" name="Text 1"/>
          <p:cNvSpPr/>
          <p:nvPr/>
        </p:nvSpPr>
        <p:spPr>
          <a:xfrm>
            <a:off x="458640" y="1828800"/>
            <a:ext cx="8685000" cy="9126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Player</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Playlists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Library</a:t>
            </a:r>
            <a:endParaRPr lang="en-US" sz="2000" b="0" u="none" strike="noStrike">
              <a:solidFill>
                <a:srgbClr val="ffffff"/>
              </a:solidFill>
              <a:effectLst/>
              <a:uFillTx/>
              <a:latin typeface="Arial"/>
            </a:endParaRPr>
          </a:p>
        </p:txBody>
      </p:sp>
      <p:pic>
        <p:nvPicPr>
          <p:cNvPr id="35" name="Image 0" descr="preencoded.png"/>
          <p:cNvPicPr/>
          <p:nvPr/>
        </p:nvPicPr>
        <p:blipFill>
          <a:blip r:embed="rId1"/>
          <a:stretch/>
        </p:blipFill>
        <p:spPr>
          <a:xfrm>
            <a:off x="2200320" y="1600200"/>
            <a:ext cx="6941880" cy="3541320"/>
          </a:xfrm>
          <a:prstGeom prst="rect">
            <a:avLst/>
          </a:prstGeom>
          <a:noFill/>
          <a:ln w="0">
            <a:noFill/>
          </a:ln>
        </p:spPr>
      </p:pic>
      <p:pic>
        <p:nvPicPr>
          <p:cNvPr id="36" name="Image 1" descr="preencoded.png"/>
          <p:cNvPicPr/>
          <p:nvPr/>
        </p:nvPicPr>
        <p:blipFill>
          <a:blip r:embed="rId2"/>
          <a:stretch/>
        </p:blipFill>
        <p:spPr>
          <a:xfrm>
            <a:off x="196560" y="3168360"/>
            <a:ext cx="1860480" cy="18604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37"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Beatgrids &amp; BPM</a:t>
            </a:r>
            <a:endParaRPr lang="en-US" sz="3600" b="0" u="none" strike="noStrike">
              <a:solidFill>
                <a:srgbClr val="ffffff"/>
              </a:solidFill>
              <a:effectLst/>
              <a:uFillTx/>
              <a:latin typeface="Arial"/>
            </a:endParaRPr>
          </a:p>
        </p:txBody>
      </p:sp>
      <p:sp>
        <p:nvSpPr>
          <p:cNvPr id="38" name="Text 1"/>
          <p:cNvSpPr/>
          <p:nvPr/>
        </p:nvSpPr>
        <p:spPr>
          <a:xfrm>
            <a:off x="457200" y="1600200"/>
            <a:ext cx="8685000" cy="68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Beatgrid = timing map</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Red line = first beat</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BPM must be correct</a:t>
            </a:r>
            <a:endParaRPr lang="en-US" sz="2000" b="0" u="none" strike="noStrike">
              <a:solidFill>
                <a:srgbClr val="ffffff"/>
              </a:solidFill>
              <a:effectLst/>
              <a:uFillTx/>
              <a:latin typeface="Arial"/>
            </a:endParaRPr>
          </a:p>
        </p:txBody>
      </p:sp>
      <p:pic>
        <p:nvPicPr>
          <p:cNvPr id="39" name="Image 0" descr="preencoded.png"/>
          <p:cNvPicPr/>
          <p:nvPr/>
        </p:nvPicPr>
        <p:blipFill>
          <a:blip r:embed="rId1"/>
          <a:stretch/>
        </p:blipFill>
        <p:spPr>
          <a:xfrm>
            <a:off x="1790640" y="3100320"/>
            <a:ext cx="5555880" cy="15174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40" name="Text 0"/>
          <p:cNvSpPr/>
          <p:nvPr/>
        </p:nvSpPr>
        <p:spPr>
          <a:xfrm>
            <a:off x="182880" y="137160"/>
            <a:ext cx="8776440" cy="72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Beats, Bars, and Phrases</a:t>
            </a:r>
            <a:endParaRPr lang="en-US" sz="3600" b="0" u="none" strike="noStrike">
              <a:solidFill>
                <a:srgbClr val="ffffff"/>
              </a:solidFill>
              <a:effectLst/>
              <a:uFillTx/>
              <a:latin typeface="Arial"/>
            </a:endParaRPr>
          </a:p>
        </p:txBody>
      </p:sp>
      <p:sp>
        <p:nvSpPr>
          <p:cNvPr id="41" name="Text 1"/>
          <p:cNvSpPr/>
          <p:nvPr/>
        </p:nvSpPr>
        <p:spPr>
          <a:xfrm>
            <a:off x="182880" y="914400"/>
            <a:ext cx="3655800" cy="255852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Beat = steady pulse</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4 beats = 1 bar</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Bars repeat in groups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Groups form phrases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Most phrases = multiples of 4 bars (8, 16, etc.,)</a:t>
            </a:r>
            <a:endParaRPr lang="en-US" sz="2000" b="0" u="none" strike="noStrike">
              <a:solidFill>
                <a:srgbClr val="ffffff"/>
              </a:solidFill>
              <a:effectLst/>
              <a:uFillTx/>
              <a:latin typeface="Arial"/>
            </a:endParaRPr>
          </a:p>
        </p:txBody>
      </p:sp>
      <p:pic>
        <p:nvPicPr>
          <p:cNvPr id="42" name="Image 0" descr="preencoded.png"/>
          <p:cNvPicPr/>
          <p:nvPr/>
        </p:nvPicPr>
        <p:blipFill>
          <a:blip r:embed="rId1"/>
          <a:stretch/>
        </p:blipFill>
        <p:spPr>
          <a:xfrm>
            <a:off x="731520" y="3657600"/>
            <a:ext cx="7679160" cy="1095480"/>
          </a:xfrm>
          <a:prstGeom prst="rect">
            <a:avLst/>
          </a:prstGeom>
          <a:noFill/>
          <a:ln w="0">
            <a:noFill/>
          </a:ln>
        </p:spPr>
      </p:pic>
      <p:pic>
        <p:nvPicPr>
          <p:cNvPr id="43" name="Image 1" descr="preencoded.png"/>
          <p:cNvPicPr/>
          <p:nvPr/>
        </p:nvPicPr>
        <p:blipFill>
          <a:blip r:embed="rId2"/>
          <a:stretch/>
        </p:blipFill>
        <p:spPr>
          <a:xfrm>
            <a:off x="3840480" y="1335600"/>
            <a:ext cx="5118840" cy="20098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44"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Cue Points</a:t>
            </a:r>
            <a:endParaRPr lang="en-US" sz="3600" b="0" u="none" strike="noStrike">
              <a:solidFill>
                <a:srgbClr val="ffffff"/>
              </a:solidFill>
              <a:effectLst/>
              <a:uFillTx/>
              <a:latin typeface="Arial"/>
            </a:endParaRPr>
          </a:p>
        </p:txBody>
      </p:sp>
      <p:sp>
        <p:nvSpPr>
          <p:cNvPr id="45" name="Text 1"/>
          <p:cNvSpPr/>
          <p:nvPr/>
        </p:nvSpPr>
        <p:spPr>
          <a:xfrm>
            <a:off x="457200" y="2745000"/>
            <a:ext cx="8685000" cy="68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Cue = </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ebebf0">
                    <a:alpha val="99000"/>
                  </a:srgbClr>
                </a:solidFill>
                <a:effectLst/>
                <a:uFillTx/>
                <a:latin typeface="Inter"/>
                <a:ea typeface="Inter"/>
              </a:rPr>
              <a:t>Bookmark</a:t>
            </a:r>
            <a:endParaRPr lang="en-US" sz="2000" b="0" u="none" strike="noStrike">
              <a:solidFill>
                <a:srgbClr val="ffffff"/>
              </a:solidFill>
              <a:effectLst/>
              <a:uFillTx/>
              <a:latin typeface="Arial"/>
            </a:endParaRPr>
          </a:p>
          <a:p>
            <a:pPr defTabSz="914400">
              <a:lnSpc>
                <a:spcPts val="2421"/>
              </a:lnSpc>
              <a:tabLst>
                <a:tab algn="l" pos="0"/>
              </a:tabLst>
            </a:pP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Hot Cue = </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play from here</a:t>
            </a:r>
            <a:endParaRPr lang="en-US" sz="2000" b="0" u="none" strike="noStrike">
              <a:solidFill>
                <a:srgbClr val="ffffff"/>
              </a:solidFill>
              <a:effectLst/>
              <a:uFillTx/>
              <a:latin typeface="Arial"/>
            </a:endParaRPr>
          </a:p>
          <a:p>
            <a:pPr defTabSz="914400">
              <a:lnSpc>
                <a:spcPts val="2421"/>
              </a:lnSpc>
              <a:tabLst>
                <a:tab algn="l" pos="0"/>
              </a:tabLst>
            </a:pP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Memory Cue = </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jump to here</a:t>
            </a:r>
            <a:endParaRPr lang="en-US" sz="2000" b="0" u="none" strike="noStrike">
              <a:solidFill>
                <a:srgbClr val="ffffff"/>
              </a:solidFill>
              <a:effectLst/>
              <a:uFillTx/>
              <a:latin typeface="Arial"/>
            </a:endParaRPr>
          </a:p>
        </p:txBody>
      </p:sp>
      <p:pic>
        <p:nvPicPr>
          <p:cNvPr id="46" name="Image 0" descr="preencoded.png"/>
          <p:cNvPicPr/>
          <p:nvPr/>
        </p:nvPicPr>
        <p:blipFill>
          <a:blip r:embed="rId1"/>
          <a:stretch/>
        </p:blipFill>
        <p:spPr>
          <a:xfrm>
            <a:off x="3251520" y="1828800"/>
            <a:ext cx="5890680" cy="33130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47"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Setting Cues</a:t>
            </a:r>
            <a:endParaRPr lang="en-US" sz="3600" b="0" u="none" strike="noStrike">
              <a:solidFill>
                <a:srgbClr val="ffffff"/>
              </a:solidFill>
              <a:effectLst/>
              <a:uFillTx/>
              <a:latin typeface="Arial"/>
            </a:endParaRPr>
          </a:p>
        </p:txBody>
      </p:sp>
      <p:sp>
        <p:nvSpPr>
          <p:cNvPr id="48" name="Text 1"/>
          <p:cNvSpPr/>
          <p:nvPr/>
        </p:nvSpPr>
        <p:spPr>
          <a:xfrm>
            <a:off x="457200" y="1600200"/>
            <a:ext cx="8685000" cy="68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Hot Cue A = drop</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Hot Cue H = mix out</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Memory Cue = mix in</a:t>
            </a:r>
            <a:endParaRPr lang="en-US" sz="2000" b="0" u="none" strike="noStrike">
              <a:solidFill>
                <a:srgbClr val="ffffff"/>
              </a:solidFill>
              <a:effectLst/>
              <a:uFillTx/>
              <a:latin typeface="Arial"/>
            </a:endParaRPr>
          </a:p>
        </p:txBody>
      </p:sp>
      <p:pic>
        <p:nvPicPr>
          <p:cNvPr id="49" name="Image 0" descr="preencoded.png"/>
          <p:cNvPicPr/>
          <p:nvPr/>
        </p:nvPicPr>
        <p:blipFill>
          <a:blip r:embed="rId1"/>
          <a:stretch/>
        </p:blipFill>
        <p:spPr>
          <a:xfrm>
            <a:off x="376200" y="3100320"/>
            <a:ext cx="8389800" cy="1260360"/>
          </a:xfrm>
          <a:prstGeom prst="rect">
            <a:avLst/>
          </a:prstGeom>
          <a:noFill/>
          <a:ln w="0">
            <a:noFill/>
          </a:ln>
        </p:spPr>
      </p:pic>
      <p:pic>
        <p:nvPicPr>
          <p:cNvPr id="50" name="Image 1" descr="preencoded.png"/>
          <p:cNvPicPr/>
          <p:nvPr/>
        </p:nvPicPr>
        <p:blipFill>
          <a:blip r:embed="rId2"/>
          <a:stretch/>
        </p:blipFill>
        <p:spPr>
          <a:xfrm>
            <a:off x="4114800" y="1846440"/>
            <a:ext cx="4529520" cy="4377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51"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Exporting to USB</a:t>
            </a:r>
            <a:endParaRPr lang="en-US" sz="3600" b="0" u="none" strike="noStrike">
              <a:solidFill>
                <a:srgbClr val="ffffff"/>
              </a:solidFill>
              <a:effectLst/>
              <a:uFillTx/>
              <a:latin typeface="Arial"/>
            </a:endParaRPr>
          </a:p>
        </p:txBody>
      </p:sp>
      <p:sp>
        <p:nvSpPr>
          <p:cNvPr id="52" name="Text 1"/>
          <p:cNvSpPr/>
          <p:nvPr/>
        </p:nvSpPr>
        <p:spPr>
          <a:xfrm>
            <a:off x="459000" y="2059200"/>
            <a:ext cx="8685000" cy="11412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Create playlist(s)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Check device settings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Export playlist or folder to USB</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*EJECT DRIVE BEFORE REMOVAL*</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(extremely important)</a:t>
            </a:r>
            <a:endParaRPr lang="en-US" sz="2000" b="0" u="none" strike="noStrike">
              <a:solidFill>
                <a:srgbClr val="ffffff"/>
              </a:solidFill>
              <a:effectLst/>
              <a:uFillTx/>
              <a:latin typeface="Arial"/>
            </a:endParaRPr>
          </a:p>
        </p:txBody>
      </p:sp>
      <p:pic>
        <p:nvPicPr>
          <p:cNvPr id="53" name="Image 0" descr="preencoded.png"/>
          <p:cNvPicPr/>
          <p:nvPr/>
        </p:nvPicPr>
        <p:blipFill>
          <a:blip r:embed="rId1"/>
          <a:stretch/>
        </p:blipFill>
        <p:spPr>
          <a:xfrm>
            <a:off x="5048280" y="1143000"/>
            <a:ext cx="3986640" cy="3986640"/>
          </a:xfrm>
          <a:prstGeom prst="rect">
            <a:avLst/>
          </a:prstGeom>
          <a:noFill/>
          <a:ln w="0">
            <a:noFill/>
          </a:ln>
        </p:spPr>
      </p:pic>
      <p:pic>
        <p:nvPicPr>
          <p:cNvPr id="54" name="Image 1" descr="preencoded.png"/>
          <p:cNvPicPr/>
          <p:nvPr/>
        </p:nvPicPr>
        <p:blipFill>
          <a:blip r:embed="rId2"/>
          <a:stretch/>
        </p:blipFill>
        <p:spPr>
          <a:xfrm>
            <a:off x="849600" y="3886200"/>
            <a:ext cx="4198680" cy="674640"/>
          </a:xfrm>
          <a:prstGeom prst="rect">
            <a:avLst/>
          </a:prstGeom>
          <a:noFill/>
          <a:ln w="0">
            <a:noFill/>
          </a:ln>
        </p:spPr>
      </p:pic>
      <p:sp>
        <p:nvSpPr>
          <p:cNvPr id="55" name="Shape 2"/>
          <p:cNvSpPr/>
          <p:nvPr/>
        </p:nvSpPr>
        <p:spPr>
          <a:xfrm>
            <a:off x="2843280" y="3935520"/>
            <a:ext cx="407880" cy="407880"/>
          </a:xfrm>
          <a:prstGeom prst="ellipse">
            <a:avLst/>
          </a:prstGeom>
          <a:noFill/>
          <a:ln w="50760">
            <a:solidFill>
              <a:srgbClr val="ff0000"/>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56" name="Text 3"/>
          <p:cNvSpPr/>
          <p:nvPr/>
        </p:nvSpPr>
        <p:spPr>
          <a:xfrm>
            <a:off x="2286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endParaRPr lang="en-US" sz="1800" b="0" u="none" strike="noStrike">
              <a:solidFill>
                <a:srgbClr val="ffffff"/>
              </a:solidFill>
              <a:effectLst/>
              <a:uFillTx/>
              <a:latin typeface="Arial"/>
            </a:endParaRPr>
          </a:p>
        </p:txBody>
      </p:sp>
      <p:sp>
        <p:nvSpPr>
          <p:cNvPr id="57" name="Text 5"/>
          <p:cNvSpPr/>
          <p:nvPr/>
        </p:nvSpPr>
        <p:spPr>
          <a:xfrm>
            <a:off x="457200" y="1600200"/>
            <a:ext cx="8685000" cy="11412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endParaRPr lang="en-US" sz="1800" b="0" u="none" strike="noStrike">
              <a:solidFill>
                <a:srgbClr val="ffffff"/>
              </a:solidFill>
              <a:effectLst/>
              <a:uFillTx/>
              <a:latin typeface="Arial"/>
              <a:ea typeface="DejaVu Sans"/>
            </a:endParaRPr>
          </a:p>
        </p:txBody>
      </p:sp>
      <p:sp>
        <p:nvSpPr>
          <p:cNvPr id="58" name="PlaceHolder 1"/>
          <p:cNvSpPr>
            <a:spLocks noGrp="1"/>
          </p:cNvSpPr>
          <p:nvPr>
            <p:ph type="subTitle"/>
          </p:nvPr>
        </p:nvSpPr>
        <p:spPr>
          <a:xfrm>
            <a:off x="457200" y="590760"/>
            <a:ext cx="8229240" cy="3981240"/>
          </a:xfrm>
          <a:prstGeom prst="rect">
            <a:avLst/>
          </a:prstGeom>
          <a:noFill/>
          <a:ln w="0">
            <a:noFill/>
          </a:ln>
        </p:spPr>
        <p:txBody>
          <a:bodyPr lIns="0" rIns="0" tIns="0" bIns="0" anchor="ctr">
            <a:sp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Rekordbox Prep Live Demo</a:t>
            </a:r>
            <a:endParaRPr lang="en-US" sz="3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59"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Player Basics (CDJ / XDJ)</a:t>
            </a:r>
            <a:endParaRPr lang="en-US" sz="3600" b="0" u="none" strike="noStrike">
              <a:solidFill>
                <a:srgbClr val="ffffff"/>
              </a:solidFill>
              <a:effectLst/>
              <a:uFillTx/>
              <a:latin typeface="Arial"/>
            </a:endParaRPr>
          </a:p>
        </p:txBody>
      </p:sp>
      <p:sp>
        <p:nvSpPr>
          <p:cNvPr id="60" name="Text 1"/>
          <p:cNvSpPr/>
          <p:nvPr/>
        </p:nvSpPr>
        <p:spPr>
          <a:xfrm>
            <a:off x="687600" y="2287800"/>
            <a:ext cx="8685000" cy="15984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Play / Cue</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Hot Cues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Jog wheel</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Cue/Loop Call</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Tempo slider</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Browse knob</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USB Select / Eject</a:t>
            </a:r>
            <a:endParaRPr lang="en-US" sz="2000" b="0" u="none" strike="noStrike">
              <a:solidFill>
                <a:srgbClr val="ffffff"/>
              </a:solidFill>
              <a:effectLst/>
              <a:uFillTx/>
              <a:latin typeface="Arial"/>
            </a:endParaRPr>
          </a:p>
        </p:txBody>
      </p:sp>
      <p:pic>
        <p:nvPicPr>
          <p:cNvPr id="61" name="Image 0" descr="preencoded.png"/>
          <p:cNvPicPr/>
          <p:nvPr/>
        </p:nvPicPr>
        <p:blipFill>
          <a:blip r:embed="rId1"/>
          <a:stretch/>
        </p:blipFill>
        <p:spPr>
          <a:xfrm>
            <a:off x="4210200" y="1847880"/>
            <a:ext cx="4932000" cy="32940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62"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Mixer Basics</a:t>
            </a:r>
            <a:endParaRPr lang="en-US" sz="3600" b="0" u="none" strike="noStrike">
              <a:solidFill>
                <a:srgbClr val="ffffff"/>
              </a:solidFill>
              <a:effectLst/>
              <a:uFillTx/>
              <a:latin typeface="Arial"/>
            </a:endParaRPr>
          </a:p>
        </p:txBody>
      </p:sp>
      <p:sp>
        <p:nvSpPr>
          <p:cNvPr id="63" name="Text 1"/>
          <p:cNvSpPr/>
          <p:nvPr/>
        </p:nvSpPr>
        <p:spPr>
          <a:xfrm>
            <a:off x="459000" y="2516400"/>
            <a:ext cx="8685000" cy="9126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Channel faders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Headphone Cue = audition</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Color FX / FX</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EQ: lows / mids / highs</a:t>
            </a:r>
            <a:endParaRPr lang="en-US" sz="2000" b="0" u="none" strike="noStrike">
              <a:solidFill>
                <a:srgbClr val="ffffff"/>
              </a:solidFill>
              <a:effectLst/>
              <a:uFillTx/>
              <a:latin typeface="Arial"/>
            </a:endParaRPr>
          </a:p>
        </p:txBody>
      </p:sp>
      <p:pic>
        <p:nvPicPr>
          <p:cNvPr id="64" name="Image 0" descr="preencoded.png"/>
          <p:cNvPicPr/>
          <p:nvPr/>
        </p:nvPicPr>
        <p:blipFill>
          <a:blip r:embed="rId1"/>
          <a:stretch/>
        </p:blipFill>
        <p:spPr>
          <a:xfrm>
            <a:off x="4633920" y="2038320"/>
            <a:ext cx="4508280" cy="31032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pic>
        <p:nvPicPr>
          <p:cNvPr id="65" name="">
            <a:hlinkClick r:id="" action="ppaction://media"/>
          </p:cNvPr>
          <p:cNvPicPr/>
          <p:nvPr>
            <a:videoFile r:link="rId1"/>
            <p:extLst>
              <p:ext uri="{DAA4B4D4-6D71-4841-9C94-3DE7FCFB9230}">
                <p14:media r:link="rId2"/>
              </p:ext>
            </p:extLst>
          </p:nvPr>
        </p:nvPicPr>
        <p:blipFill>
          <a:blip r:embed="rId3"/>
          <a:stretch>
            <a:fillRect/>
          </a:stretch>
        </p:blipFill>
        <p:spPr>
          <a:xfrm>
            <a:off x="522720" y="295920"/>
            <a:ext cx="8127720" cy="45716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66"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The First Mix</a:t>
            </a:r>
            <a:endParaRPr lang="en-US" sz="3600" b="0" u="none" strike="noStrike">
              <a:solidFill>
                <a:srgbClr val="ffffff"/>
              </a:solidFill>
              <a:effectLst/>
              <a:uFillTx/>
              <a:latin typeface="Arial"/>
            </a:endParaRPr>
          </a:p>
        </p:txBody>
      </p:sp>
      <p:sp>
        <p:nvSpPr>
          <p:cNvPr id="67" name="Text 1"/>
          <p:cNvSpPr/>
          <p:nvPr/>
        </p:nvSpPr>
        <p:spPr>
          <a:xfrm>
            <a:off x="459000" y="2286000"/>
            <a:ext cx="8685000" cy="13698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Track A playing</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Find Track B</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Audition in Headphones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Start Track B on phrase</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Balance w/ EQ / Volume</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aaaab4">
                    <a:alpha val="99000"/>
                  </a:srgbClr>
                </a:solidFill>
                <a:effectLst/>
                <a:uFillTx/>
                <a:latin typeface="Inter"/>
                <a:ea typeface="Inter"/>
              </a:rPr>
              <a:t>• Fade out Track A by end of phrase</a:t>
            </a:r>
            <a:endParaRPr lang="en-US" sz="2000" b="0" u="none" strike="noStrike">
              <a:solidFill>
                <a:srgbClr val="ffffff"/>
              </a:solidFill>
              <a:effectLst/>
              <a:uFillTx/>
              <a:latin typeface="Arial"/>
            </a:endParaRPr>
          </a:p>
        </p:txBody>
      </p:sp>
      <p:pic>
        <p:nvPicPr>
          <p:cNvPr id="68" name="Image 0" descr="preencoded.png"/>
          <p:cNvPicPr/>
          <p:nvPr/>
        </p:nvPicPr>
        <p:blipFill>
          <a:blip r:embed="rId1"/>
          <a:stretch/>
        </p:blipFill>
        <p:spPr>
          <a:xfrm>
            <a:off x="5767560" y="1123920"/>
            <a:ext cx="2917080" cy="392256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69"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Practice &amp; Next Steps</a:t>
            </a:r>
            <a:endParaRPr lang="en-US" sz="3600" b="0" u="none" strike="noStrike">
              <a:solidFill>
                <a:srgbClr val="ffffff"/>
              </a:solidFill>
              <a:effectLst/>
              <a:uFillTx/>
              <a:latin typeface="Arial"/>
            </a:endParaRPr>
          </a:p>
        </p:txBody>
      </p:sp>
      <p:sp>
        <p:nvSpPr>
          <p:cNvPr id="70" name="Text 1"/>
          <p:cNvSpPr/>
          <p:nvPr/>
        </p:nvSpPr>
        <p:spPr>
          <a:xfrm>
            <a:off x="1757520" y="1442880"/>
            <a:ext cx="8685000" cy="4554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Prep 10-15 tracks</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ebebf0">
                    <a:alpha val="99000"/>
                  </a:srgbClr>
                </a:solidFill>
                <a:effectLst/>
                <a:uFillTx/>
                <a:latin typeface="Inter"/>
                <a:ea typeface="Inter"/>
              </a:rPr>
              <a:t>• Mix A → B → C</a:t>
            </a:r>
            <a:endParaRPr lang="en-US" sz="2000" b="0" u="none" strike="noStrike">
              <a:solidFill>
                <a:srgbClr val="ffffff"/>
              </a:solidFill>
              <a:effectLst/>
              <a:uFillTx/>
              <a:latin typeface="Arial"/>
            </a:endParaRPr>
          </a:p>
        </p:txBody>
      </p:sp>
      <p:sp>
        <p:nvSpPr>
          <p:cNvPr id="71" name="Text 2"/>
          <p:cNvSpPr/>
          <p:nvPr/>
        </p:nvSpPr>
        <p:spPr>
          <a:xfrm>
            <a:off x="4519440" y="1442880"/>
            <a:ext cx="8685000" cy="455400"/>
          </a:xfrm>
          <a:prstGeom prst="rect">
            <a:avLst/>
          </a:prstGeom>
          <a:noFill/>
          <a:ln w="0">
            <a:noFill/>
          </a:ln>
        </p:spPr>
        <p:style>
          <a:lnRef idx="0"/>
          <a:fillRef idx="0"/>
          <a:effectRef idx="0"/>
          <a:fontRef idx="minor"/>
        </p:style>
        <p:txBody>
          <a:bodyPr lIns="90000" rIns="90000" tIns="45000" bIns="45000" anchor="ctr">
            <a:noAutofit/>
          </a:bodyPr>
          <a:p>
            <a:pPr defTabSz="914400">
              <a:lnSpc>
                <a:spcPts val="2421"/>
              </a:lnSpc>
              <a:tabLst>
                <a:tab algn="l" pos="0"/>
              </a:tabLst>
            </a:pPr>
            <a:r>
              <a:rPr lang="en-US" sz="2000" b="0" u="none" strike="noStrike">
                <a:solidFill>
                  <a:srgbClr val="ebebf0">
                    <a:alpha val="99000"/>
                  </a:srgbClr>
                </a:solidFill>
                <a:effectLst/>
                <a:uFillTx/>
                <a:latin typeface="Inter"/>
                <a:ea typeface="Inter"/>
              </a:rPr>
              <a:t>• Repeat basic mix</a:t>
            </a:r>
            <a:endParaRPr lang="en-US" sz="2000" b="0" u="none" strike="noStrike">
              <a:solidFill>
                <a:srgbClr val="ffffff"/>
              </a:solidFill>
              <a:effectLst/>
              <a:uFillTx/>
              <a:latin typeface="Arial"/>
            </a:endParaRPr>
          </a:p>
          <a:p>
            <a:pPr defTabSz="914400">
              <a:lnSpc>
                <a:spcPts val="2421"/>
              </a:lnSpc>
              <a:tabLst>
                <a:tab algn="l" pos="0"/>
              </a:tabLst>
            </a:pPr>
            <a:r>
              <a:rPr lang="en-US" sz="2000" b="0" u="none" strike="noStrike">
                <a:solidFill>
                  <a:srgbClr val="ffffff">
                    <a:alpha val="99000"/>
                  </a:srgbClr>
                </a:solidFill>
                <a:effectLst/>
                <a:uFillTx/>
                <a:latin typeface="Inter"/>
                <a:ea typeface="Inter"/>
              </a:rPr>
              <a:t>• Come to open decks!!</a:t>
            </a:r>
            <a:endParaRPr lang="en-US" sz="2000" b="0" u="none" strike="noStrike">
              <a:solidFill>
                <a:srgbClr val="ffffff"/>
              </a:solidFill>
              <a:effectLst/>
              <a:uFillTx/>
              <a:latin typeface="Arial"/>
            </a:endParaRPr>
          </a:p>
        </p:txBody>
      </p:sp>
      <p:pic>
        <p:nvPicPr>
          <p:cNvPr id="72" name="Image 0" descr="preencoded.png"/>
          <p:cNvPicPr/>
          <p:nvPr/>
        </p:nvPicPr>
        <p:blipFill>
          <a:blip r:embed="rId1"/>
          <a:stretch/>
        </p:blipFill>
        <p:spPr>
          <a:xfrm>
            <a:off x="747720" y="2571840"/>
            <a:ext cx="7542000" cy="226584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73" name="Text 0"/>
          <p:cNvSpPr/>
          <p:nvPr/>
        </p:nvSpPr>
        <p:spPr>
          <a:xfrm>
            <a:off x="182880" y="137160"/>
            <a:ext cx="8776440" cy="82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Take It Further</a:t>
            </a:r>
            <a:endParaRPr lang="en-US" sz="3600" b="0" u="none" strike="noStrike">
              <a:solidFill>
                <a:srgbClr val="ffffff"/>
              </a:solidFill>
              <a:effectLst/>
              <a:uFillTx/>
              <a:latin typeface="Arial"/>
            </a:endParaRPr>
          </a:p>
        </p:txBody>
      </p:sp>
      <p:sp>
        <p:nvSpPr>
          <p:cNvPr id="74" name="TextBox 66"/>
          <p:cNvSpPr/>
          <p:nvPr/>
        </p:nvSpPr>
        <p:spPr>
          <a:xfrm>
            <a:off x="320040" y="1371600"/>
            <a:ext cx="8024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2dd4bf"/>
                </a:solidFill>
                <a:effectLst/>
                <a:uFillTx/>
                <a:latin typeface="Arial"/>
                <a:ea typeface="DejaVu Sans"/>
              </a:rPr>
              <a:t>Learn</a:t>
            </a:r>
            <a:endParaRPr lang="en-US" sz="1800" b="0" u="none" strike="noStrike">
              <a:solidFill>
                <a:srgbClr val="ffffff"/>
              </a:solidFill>
              <a:effectLst/>
              <a:uFillTx/>
              <a:latin typeface="Arial"/>
            </a:endParaRPr>
          </a:p>
        </p:txBody>
      </p:sp>
      <p:sp>
        <p:nvSpPr>
          <p:cNvPr id="75" name="TextBox 67"/>
          <p:cNvSpPr/>
          <p:nvPr/>
        </p:nvSpPr>
        <p:spPr>
          <a:xfrm>
            <a:off x="320040" y="2057400"/>
            <a:ext cx="1953360" cy="19695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1001"/>
              </a:spcAft>
            </a:pPr>
            <a:r>
              <a:rPr lang="en-US" sz="1500" b="0" u="none" strike="noStrike">
                <a:solidFill>
                  <a:srgbClr val="c8c8c8"/>
                </a:solidFill>
                <a:effectLst/>
                <a:uFillTx/>
                <a:latin typeface="Arial"/>
                <a:ea typeface="DejaVu Sans"/>
              </a:rPr>
              <a:t>Slam Academy course</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History of DJing</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Harmonic mixing</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Genre deep-dives</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YouTube tutorials</a:t>
            </a:r>
            <a:endParaRPr lang="en-US" sz="1500" b="0" u="none" strike="noStrike">
              <a:solidFill>
                <a:srgbClr val="ffffff"/>
              </a:solidFill>
              <a:effectLst/>
              <a:uFillTx/>
              <a:latin typeface="Arial"/>
            </a:endParaRPr>
          </a:p>
        </p:txBody>
      </p:sp>
      <p:sp>
        <p:nvSpPr>
          <p:cNvPr id="76" name="TextBox 68"/>
          <p:cNvSpPr/>
          <p:nvPr/>
        </p:nvSpPr>
        <p:spPr>
          <a:xfrm>
            <a:off x="2503080" y="1371600"/>
            <a:ext cx="10695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2dd4bf"/>
                </a:solidFill>
                <a:effectLst/>
                <a:uFillTx/>
                <a:latin typeface="Arial"/>
                <a:ea typeface="DejaVu Sans"/>
              </a:rPr>
              <a:t>Practice</a:t>
            </a:r>
            <a:endParaRPr lang="en-US" sz="1800" b="0" u="none" strike="noStrike">
              <a:solidFill>
                <a:srgbClr val="ffffff"/>
              </a:solidFill>
              <a:effectLst/>
              <a:uFillTx/>
              <a:latin typeface="Arial"/>
            </a:endParaRPr>
          </a:p>
        </p:txBody>
      </p:sp>
      <p:sp>
        <p:nvSpPr>
          <p:cNvPr id="77" name="TextBox 69"/>
          <p:cNvSpPr/>
          <p:nvPr/>
        </p:nvSpPr>
        <p:spPr>
          <a:xfrm>
            <a:off x="2503080" y="2057400"/>
            <a:ext cx="1953360" cy="23252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1001"/>
              </a:spcAft>
            </a:pPr>
            <a:r>
              <a:rPr lang="en-US" sz="1500" b="0" u="none" strike="noStrike">
                <a:solidFill>
                  <a:srgbClr val="c8c8c8"/>
                </a:solidFill>
                <a:effectLst/>
                <a:uFillTx/>
                <a:latin typeface="Arial"/>
                <a:ea typeface="DejaVu Sans"/>
              </a:rPr>
              <a:t>Manual beat matching</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Tempo jumping</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Genre jumping</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Library organization</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Set planning</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EQ mixing</a:t>
            </a:r>
            <a:endParaRPr lang="en-US" sz="1500" b="0" u="none" strike="noStrike">
              <a:solidFill>
                <a:srgbClr val="ffffff"/>
              </a:solidFill>
              <a:effectLst/>
              <a:uFillTx/>
              <a:latin typeface="Arial"/>
            </a:endParaRPr>
          </a:p>
        </p:txBody>
      </p:sp>
      <p:sp>
        <p:nvSpPr>
          <p:cNvPr id="78" name="TextBox 70"/>
          <p:cNvSpPr/>
          <p:nvPr/>
        </p:nvSpPr>
        <p:spPr>
          <a:xfrm>
            <a:off x="4686480" y="1371600"/>
            <a:ext cx="10944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2dd4bf"/>
                </a:solidFill>
                <a:effectLst/>
                <a:uFillTx/>
                <a:latin typeface="Arial"/>
                <a:ea typeface="DejaVu Sans"/>
              </a:rPr>
              <a:t>Connect</a:t>
            </a:r>
            <a:endParaRPr lang="en-US" sz="1800" b="0" u="none" strike="noStrike">
              <a:solidFill>
                <a:srgbClr val="ffffff"/>
              </a:solidFill>
              <a:effectLst/>
              <a:uFillTx/>
              <a:latin typeface="Arial"/>
            </a:endParaRPr>
          </a:p>
        </p:txBody>
      </p:sp>
      <p:sp>
        <p:nvSpPr>
          <p:cNvPr id="79" name="TextBox 71"/>
          <p:cNvSpPr/>
          <p:nvPr/>
        </p:nvSpPr>
        <p:spPr>
          <a:xfrm>
            <a:off x="4686480" y="2057400"/>
            <a:ext cx="1953360" cy="1740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1001"/>
              </a:spcAft>
            </a:pPr>
            <a:r>
              <a:rPr lang="en-US" sz="1500" b="0" u="none" strike="noStrike">
                <a:solidFill>
                  <a:srgbClr val="c8c8c8"/>
                </a:solidFill>
                <a:effectLst/>
                <a:uFillTx/>
                <a:latin typeface="Arial"/>
                <a:ea typeface="DejaVu Sans"/>
              </a:rPr>
              <a:t>Attend shows</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Attend festivals</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Network with DJs</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Find promoters</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Watch iconic sets</a:t>
            </a:r>
            <a:endParaRPr lang="en-US" sz="1500" b="0" u="none" strike="noStrike">
              <a:solidFill>
                <a:srgbClr val="ffffff"/>
              </a:solidFill>
              <a:effectLst/>
              <a:uFillTx/>
              <a:latin typeface="Arial"/>
            </a:endParaRPr>
          </a:p>
        </p:txBody>
      </p:sp>
      <p:sp>
        <p:nvSpPr>
          <p:cNvPr id="80" name="TextBox 72"/>
          <p:cNvSpPr/>
          <p:nvPr/>
        </p:nvSpPr>
        <p:spPr>
          <a:xfrm>
            <a:off x="6869520" y="1371600"/>
            <a:ext cx="8917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2dd4bf"/>
                </a:solidFill>
                <a:effectLst/>
                <a:uFillTx/>
                <a:latin typeface="Arial"/>
                <a:ea typeface="DejaVu Sans"/>
              </a:rPr>
              <a:t>Create</a:t>
            </a:r>
            <a:endParaRPr lang="en-US" sz="1800" b="0" u="none" strike="noStrike">
              <a:solidFill>
                <a:srgbClr val="ffffff"/>
              </a:solidFill>
              <a:effectLst/>
              <a:uFillTx/>
              <a:latin typeface="Arial"/>
            </a:endParaRPr>
          </a:p>
        </p:txBody>
      </p:sp>
      <p:sp>
        <p:nvSpPr>
          <p:cNvPr id="81" name="TextBox 73"/>
          <p:cNvSpPr/>
          <p:nvPr/>
        </p:nvSpPr>
        <p:spPr>
          <a:xfrm>
            <a:off x="6869520" y="2057400"/>
            <a:ext cx="1953360" cy="19695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1001"/>
              </a:spcAft>
            </a:pPr>
            <a:r>
              <a:rPr lang="en-US" sz="1500" b="0" u="none" strike="noStrike">
                <a:solidFill>
                  <a:srgbClr val="c8c8c8"/>
                </a:solidFill>
                <a:effectLst/>
                <a:uFillTx/>
                <a:latin typeface="Arial"/>
                <a:ea typeface="DejaVu Sans"/>
              </a:rPr>
              <a:t>Record mixes</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Upload to SoundCloud</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Live remixing</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Loop techniques</a:t>
            </a:r>
            <a:endParaRPr lang="en-US" sz="1500" b="0" u="none" strike="noStrike">
              <a:solidFill>
                <a:srgbClr val="ffffff"/>
              </a:solidFill>
              <a:effectLst/>
              <a:uFillTx/>
              <a:latin typeface="Arial"/>
            </a:endParaRPr>
          </a:p>
          <a:p>
            <a:pPr>
              <a:lnSpc>
                <a:spcPct val="100000"/>
              </a:lnSpc>
              <a:spcAft>
                <a:spcPts val="1001"/>
              </a:spcAft>
            </a:pPr>
            <a:r>
              <a:rPr lang="en-US" sz="1500" b="0" u="none" strike="noStrike">
                <a:solidFill>
                  <a:srgbClr val="c8c8c8"/>
                </a:solidFill>
                <a:effectLst/>
                <a:uFillTx/>
                <a:latin typeface="Arial"/>
                <a:ea typeface="DejaVu Sans"/>
              </a:rPr>
              <a:t>Music production</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pic>
        <p:nvPicPr>
          <p:cNvPr id="82" name="">
            <a:hlinkClick r:id="" action="ppaction://media"/>
          </p:cNvPr>
          <p:cNvPicPr/>
          <p:nvPr>
            <a:videoFile r:link="rId1"/>
            <p:extLst>
              <p:ext uri="{DAA4B4D4-6D71-4841-9C94-3DE7FCFB9230}">
                <p14:media r:link="rId2"/>
              </p:ext>
            </p:extLst>
          </p:nvPr>
        </p:nvPicPr>
        <p:blipFill>
          <a:blip r:embed="rId3"/>
          <a:stretch>
            <a:fillRect/>
          </a:stretch>
        </p:blipFill>
        <p:spPr>
          <a:xfrm>
            <a:off x="457200" y="259200"/>
            <a:ext cx="8229600" cy="462888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419"/>
        </a:solidFill>
      </p:bgPr>
    </p:bg>
    <p:spTree>
      <p:nvGrpSpPr>
        <p:cNvPr id="1" name=""/>
        <p:cNvGrpSpPr/>
        <p:nvPr/>
      </p:nvGrpSpPr>
      <p:grpSpPr>
        <a:xfrm>
          <a:off x="0" y="0"/>
          <a:ext cx="0" cy="0"/>
          <a:chOff x="0" y="0"/>
          <a:chExt cx="0" cy="0"/>
        </a:xfrm>
      </p:grpSpPr>
      <p:sp>
        <p:nvSpPr>
          <p:cNvPr id="83" name="Text 0"/>
          <p:cNvSpPr/>
          <p:nvPr/>
        </p:nvSpPr>
        <p:spPr>
          <a:xfrm>
            <a:off x="457200" y="274680"/>
            <a:ext cx="8685000" cy="1141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4357"/>
              </a:lnSpc>
              <a:tabLst>
                <a:tab algn="l" pos="0"/>
              </a:tabLst>
            </a:pPr>
            <a:r>
              <a:rPr lang="en-US" sz="3600" b="1" u="none" strike="noStrike">
                <a:solidFill>
                  <a:srgbClr val="00c8b4">
                    <a:alpha val="99000"/>
                  </a:srgbClr>
                </a:solidFill>
                <a:effectLst/>
                <a:uFillTx/>
                <a:latin typeface="Inter"/>
                <a:ea typeface="Inter"/>
              </a:rPr>
              <a:t>Q&amp;A</a:t>
            </a:r>
            <a:endParaRPr lang="en-US" sz="3600" b="0" u="none" strike="noStrike">
              <a:solidFill>
                <a:srgbClr val="ffffff"/>
              </a:solidFill>
              <a:effectLst/>
              <a:uFillTx/>
              <a:latin typeface="Arial"/>
            </a:endParaRPr>
          </a:p>
        </p:txBody>
      </p:sp>
      <p:pic>
        <p:nvPicPr>
          <p:cNvPr id="84" name="Image 0" descr="preencoded.png"/>
          <p:cNvPicPr/>
          <p:nvPr/>
        </p:nvPicPr>
        <p:blipFill>
          <a:blip r:embed="rId1"/>
          <a:stretch/>
        </p:blipFill>
        <p:spPr>
          <a:xfrm>
            <a:off x="1809720" y="1233360"/>
            <a:ext cx="5518080" cy="365112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85" name="TextBox 1"/>
          <p:cNvSpPr/>
          <p:nvPr/>
        </p:nvSpPr>
        <p:spPr>
          <a:xfrm>
            <a:off x="3309840" y="274320"/>
            <a:ext cx="2522520" cy="759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US" sz="4400" b="1" u="none" strike="noStrike">
                <a:solidFill>
                  <a:srgbClr val="2dd4bf"/>
                </a:solidFill>
                <a:effectLst/>
                <a:uFillTx/>
                <a:latin typeface="Calibri"/>
                <a:ea typeface="DejaVu Sans"/>
              </a:rPr>
              <a:t>Resources</a:t>
            </a:r>
            <a:endParaRPr lang="en-US" sz="4400" b="0" u="none" strike="noStrike">
              <a:solidFill>
                <a:srgbClr val="ffffff"/>
              </a:solidFill>
              <a:effectLst/>
              <a:uFillTx/>
              <a:latin typeface="Arial"/>
            </a:endParaRPr>
          </a:p>
        </p:txBody>
      </p:sp>
      <p:pic>
        <p:nvPicPr>
          <p:cNvPr id="86" name="Picture 2" descr="qr-code.png"/>
          <p:cNvPicPr/>
          <p:nvPr/>
        </p:nvPicPr>
        <p:blipFill>
          <a:blip r:embed="rId1"/>
          <a:stretch/>
        </p:blipFill>
        <p:spPr>
          <a:xfrm>
            <a:off x="3200400" y="1188720"/>
            <a:ext cx="2741400" cy="2741400"/>
          </a:xfrm>
          <a:prstGeom prst="rect">
            <a:avLst/>
          </a:prstGeom>
          <a:noFill/>
          <a:ln w="0">
            <a:noFill/>
          </a:ln>
        </p:spPr>
      </p:pic>
      <p:sp>
        <p:nvSpPr>
          <p:cNvPr id="87" name="TextBox 3"/>
          <p:cNvSpPr/>
          <p:nvPr/>
        </p:nvSpPr>
        <p:spPr>
          <a:xfrm>
            <a:off x="1977120" y="4114800"/>
            <a:ext cx="5187600" cy="3945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US" sz="2000" b="0" u="none" strike="noStrike">
                <a:solidFill>
                  <a:srgbClr val="a0a0a0"/>
                </a:solidFill>
                <a:effectLst/>
                <a:uFillTx/>
                <a:latin typeface="Calibri"/>
                <a:ea typeface="DejaVu Sans"/>
              </a:rPr>
              <a:t>templeoflum.github.io/dj-foundations-resources</a:t>
            </a:r>
            <a:endParaRPr lang="en-US" sz="2000" b="0" u="none" strike="noStrike">
              <a:solidFill>
                <a:srgbClr val="ffffff"/>
              </a:solidFill>
              <a:effectLst/>
              <a:uFillTx/>
              <a:latin typeface="Arial"/>
            </a:endParaRPr>
          </a:p>
        </p:txBody>
      </p:sp>
      <p:sp>
        <p:nvSpPr>
          <p:cNvPr id="88" name="TextBox 4"/>
          <p:cNvSpPr/>
          <p:nvPr/>
        </p:nvSpPr>
        <p:spPr>
          <a:xfrm>
            <a:off x="2417400" y="4572000"/>
            <a:ext cx="4307400" cy="3333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US" sz="1600" b="0" u="none" strike="noStrike">
                <a:solidFill>
                  <a:srgbClr val="808080"/>
                </a:solidFill>
                <a:effectLst/>
                <a:uFillTx/>
                <a:latin typeface="Calibri"/>
                <a:ea typeface="DejaVu Sans"/>
              </a:rPr>
              <a:t>Scan for music sources, software, tutorials &amp; more</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81</TotalTime>
  <Application>LibreOffice/25.8.4.2$Windows_X86_64 LibreOffice_project/290daaa01b999472f0c7a3890eb6a550fd74c6df</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2026-01-29T04:11:02Z</dcterms:created>
  <dc:creator>PptxGenJS</dc:creator>
  <dc:description/>
  <dc:language>en-US</dc:language>
  <cp:lastModifiedBy/>
  <dcterms:modified xsi:type="dcterms:W3CDTF">2026-02-03T04:54:24Z</dcterms:modified>
  <cp:revision>9</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20</vt:r8>
  </property>
  <property fmtid="{D5CDD505-2E9C-101B-9397-08002B2CF9AE}" pid="3" name="PresentationFormat">
    <vt:lpwstr>On-screen Show (16:9)</vt:lpwstr>
  </property>
  <property fmtid="{D5CDD505-2E9C-101B-9397-08002B2CF9AE}" pid="4" name="Slides">
    <vt:r8>20</vt:r8>
  </property>
</Properties>
</file>